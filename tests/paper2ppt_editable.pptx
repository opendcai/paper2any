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_ppt_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40087" y="960229"/>
            <a:ext cx="7885809" cy="551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760">
                <a:solidFill>
                  <a:srgbClr val="264589"/>
                </a:solidFill>
              </a:defRPr>
            </a:pPr>
            <a:r>
              <a:t>TECHNICAL .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83671" y="1838620"/>
            <a:ext cx="3591008" cy="5564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760">
                <a:solidFill>
                  <a:srgbClr val="254589"/>
                </a:solidFill>
              </a:defRPr>
            </a:pPr>
            <a:r>
              <a:t>ECONOMIC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90805" y="1838620"/>
            <a:ext cx="4272634" cy="5564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760">
                <a:solidFill>
                  <a:srgbClr val="264689"/>
                </a:solidFill>
              </a:defRPr>
            </a:pPr>
            <a: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0630" y="2962525"/>
            <a:ext cx="7431392" cy="4146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40">
                <a:solidFill>
                  <a:srgbClr val="459C46"/>
                </a:solidFill>
              </a:defRPr>
            </a:pPr>
            <a:r>
              <a:t>PLASTICS WASTE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878" y="3628138"/>
            <a:ext cx="9215813" cy="2946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40">
                <a:solidFill>
                  <a:srgbClr val="110F0E"/>
                </a:solidFill>
              </a:defRPr>
            </a:pPr>
            <a:r>
              <a:t>From Collection &amp; Sorting to Waste-to-Energy &amp; Remeditation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3712" y="5935961"/>
            <a:ext cx="9958398" cy="267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40">
                <a:solidFill>
                  <a:srgbClr val="56B1D2"/>
                </a:solidFill>
              </a:defRPr>
            </a:pPr>
            <a:r>
              <a:t>DATE / ORGANIZATION PRESENTER: XXX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_ppt_b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5875" y="894758"/>
            <a:ext cx="10490399" cy="3273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760">
                <a:solidFill>
                  <a:srgbClr val="29466D"/>
                </a:solidFill>
              </a:defRPr>
            </a:pPr>
            <a:r>
              <a:t>CASE 2: Clement (2012) Fort Bliss CASE 1: Khwamana &amp; Chaiyata (2025)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3709" y="1249389"/>
            <a:ext cx="3568841" cy="316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750">
                <a:solidFill>
                  <a:srgbClr val="1E3C64"/>
                </a:solidFill>
              </a:defRPr>
            </a:pPr>
            <a:r>
              <a:t>WtE-Zero Emission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764" y="1260300"/>
            <a:ext cx="3973384" cy="28915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3C64"/>
                </a:solidFill>
              </a:defRPr>
            </a:pPr>
            <a:r>
              <a:t>WtE/CSP Hybrid Cost-Benefit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459" y="1865899"/>
            <a:ext cx="10174523" cy="28915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599">
                <a:solidFill>
                  <a:srgbClr val="171716"/>
                </a:solidFill>
              </a:defRPr>
            </a:pPr>
            <a:r>
              <a:t>- Model: EPA WARM, 1M tons/year input - Input: 17.85 tons/day MSW, 31.63% combutible.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0" y="2280544"/>
            <a:ext cx="5109428" cy="28915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51514"/>
                </a:solidFill>
              </a:defRPr>
            </a:pPr>
            <a:r>
              <a:t>- System: Trigenration for power, heat, cooling.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56" y="2280544"/>
            <a:ext cx="5552762" cy="2782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539">
                <a:solidFill>
                  <a:srgbClr val="171616"/>
                </a:solidFill>
              </a:defRPr>
            </a:pPr>
            <a:r>
              <a:t>- CO2 Reduction: ~264.025 MTCO2e avoided/year via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709" y="2558792"/>
            <a:ext cx="2022713" cy="30552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90">
                <a:solidFill>
                  <a:srgbClr val="171615"/>
                </a:solidFill>
              </a:defRPr>
            </a:pPr>
            <a:r>
              <a:t>22.38% efficiency.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4139" y="2684276"/>
            <a:ext cx="2709881" cy="30552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90">
                <a:solidFill>
                  <a:srgbClr val="141413"/>
                </a:solidFill>
              </a:defRPr>
            </a:pPr>
            <a:r>
              <a:t>- Carbon Rev. Sensitivity: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667" y="2962525"/>
            <a:ext cx="5358804" cy="30552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90">
                <a:solidFill>
                  <a:srgbClr val="161615"/>
                </a:solidFill>
              </a:defRPr>
            </a:pPr>
            <a:r>
              <a:t>- Economics: LCOE ~0.15 USD/kWH, NV = 1.63M USD,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9181" y="3000715"/>
            <a:ext cx="5131595" cy="2509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40">
                <a:solidFill>
                  <a:srgbClr val="1A1919"/>
                </a:solidFill>
              </a:defRPr>
            </a:pPr>
            <a:r>
              <a:t>0.4-36.2M USD 0.4 - 36.2M USD (2-year env. benefit)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001" y="3251684"/>
            <a:ext cx="5486262" cy="28915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71716"/>
                </a:solidFill>
              </a:defRPr>
            </a:pPr>
            <a:r>
              <a:t>Pl = 7.72, IRR, 81.9% = 7.97%, Payback = 9.63 years.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9181" y="3289875"/>
            <a:ext cx="3884717" cy="2509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40">
                <a:solidFill>
                  <a:srgbClr val="191918"/>
                </a:solidFill>
              </a:defRPr>
            </a:pPr>
            <a:r>
              <a:t>based carbon price (0.10-10 USTCO2e).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50" y="3666329"/>
            <a:ext cx="5336637" cy="316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750">
                <a:solidFill>
                  <a:srgbClr val="141313"/>
                </a:solidFill>
              </a:defRPr>
            </a:pPr>
            <a:r>
              <a:t>- Insight: Viable economic return &amp; high resource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1848" y="3704520"/>
            <a:ext cx="5231345" cy="2564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40">
                <a:solidFill>
                  <a:srgbClr val="151414"/>
                </a:solidFill>
              </a:defRPr>
            </a:pPr>
            <a:r>
              <a:t>- Key Factor: Project NVV highly sensitive to diff.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26" y="3971856"/>
            <a:ext cx="10856150" cy="30007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60">
                <a:solidFill>
                  <a:srgbClr val="191918"/>
                </a:solidFill>
              </a:defRPr>
            </a:pPr>
            <a:r>
              <a:t>between local electricity price &amp; WTE power sales recovery within reasinable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3084" y="4244649"/>
            <a:ext cx="1019669" cy="31098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720">
                <a:solidFill>
                  <a:srgbClr val="141413"/>
                </a:solidFill>
              </a:defRPr>
            </a:pPr>
            <a:r>
              <a:t>lifecycle.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098" y="4271928"/>
            <a:ext cx="493209" cy="2400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40">
                <a:solidFill>
                  <a:srgbClr val="161615"/>
                </a:solidFill>
              </a:defRPr>
            </a:pPr>
            <a:r>
              <a:t>rate.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5838" y="5183054"/>
            <a:ext cx="7852559" cy="28915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599">
                <a:solidFill>
                  <a:srgbClr val="121111"/>
                </a:solidFill>
              </a:defRPr>
            </a:pPr>
            <a:r>
              <a:t>steam for dual optimal environmental &amp; economic benefits.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875" y="5646801"/>
            <a:ext cx="2654464" cy="2509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40">
                <a:solidFill>
                  <a:srgbClr val="111010"/>
                </a:solidFill>
              </a:defRPr>
            </a:pPr>
            <a:r>
              <a:t>ACKNOLEJUEMENTS: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083" y="5925050"/>
            <a:ext cx="11432484" cy="2782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539">
                <a:solidFill>
                  <a:srgbClr val="151514"/>
                </a:solidFill>
              </a:defRPr>
            </a:pPr>
            <a:r>
              <a:t>ACKIONOLEUEMENTS:  Thank to all experts, and collegues for listening &amp; guidance. Questions &amp; sugestions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709" y="6241489"/>
            <a:ext cx="975335" cy="22368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40">
                <a:solidFill>
                  <a:srgbClr val="191817"/>
                </a:solidFill>
              </a:defRPr>
            </a:pPr>
            <a:r>
              <a:t>welcome!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